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各位老师、同学好，我演示的是实验2：开源在线商城系统二次开发。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本实验以 Medusa 电商框架与官方 DTC Starter 店面为基线，完成了商品浏览、购物车到创建订单的完整闭环。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我在此基础上自主实现了登录用户收藏夹功能，并用 22 项测试用例验证了库存、幂等与持久化边界。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下面的展示会按实验流程依次介绍项目背景、基线、个人改动、自主功能、主链路演示、测试与 Git 证据。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首先说明这个实验要解决的问题：电商订单不是一个接口，而是一整条有状态的业务链。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商品、变体、价格、库存、购物车、订单之间环环相扣，刷新页面或重复点击都可能破坏一致性。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同时，支付和库存这类交易基础设施非常成熟，从零重写代价高，所以策略是在固定基线上用扩展点做二次开发。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最后，验收要求本地可复现：固定版本、测试支付、种子数据，保证任何机器按 README 都能跑通。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这一页说明我们选用的开源项目和锁定的基线版本。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店面模板选择 dtc-starter，因为它是 Medusa 官方现行推荐的模板，旧的 nextjs-starter-medusa 已被官方标注弃用。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我们把上游快照固定到 Commit 19e8a6fb，Medusa 2.20.1、pnpm 10.11.1、Node 24、PostgreSQL 16，保证任何机器安装结果一致。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这样实验结论可复核，也符合指导书对固定版本的要求。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这一页对比原项目基线与我的个人改动范围。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左侧是基线项目本身：backend、storefront、modules、workflows，这些都不改动，依赖包源码也不碰。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右侧是我的改动：新增收藏夹的 Store API 路由、wishlist 模块与数据模型、店面收藏按钮和收藏列表页，以及测试和文档。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核心原则是使用 Medusa 的扩展点挂接个人逻辑，这样升级上游时改动不会冲突。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这一页介绍自主功能：登录用户收藏夹。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选择它的理由是贴近真实电商的高频需求，并且改动面可控，只在客户域上新增一个模块。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接口契约三个：POST 收藏、DELETE 取消、GET 查询列表，全部要求登录态。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失败状态上：未登录 401、参数缺失 400、商品不存在 404；重复收藏幂等返回既有记录，商品下架保留条目只返回可售标记。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数据真实持久化到 PostgreSQL，不使用前端静态假数据。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这一页演示主链路：从浏览商品到创建订单的完整流程。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第一步浏览与搜索商品，第二步进入商品详情，第三步创建购物车并加入商品。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第四步修改数量，第五步填写配送地址并用测试支付，第六步完成购物车创建订单。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演示时我会用 Network 面板逐条记录每个请求的方法、URL 和状态码，并在管理端确认订单，证据以截图或录屏随仓库提交。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这一页展示核心代码和一项代表性测试。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左边是收藏夹 POST 路由的骨架：校验登录、校验商品、幂等去重、调用模块持久化，四步就是全部业务规则。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右边是一项代表性测试：同一客户重复收藏，第二次应返回既有记录且数据库条目数不变，对应 API 测试 A04。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配置上使用区域 dk、测试支付和手工配送，不配置真实支付密钥，所有价格和库存规则由后端在事务内决定。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这一页是测试设计：共 22 项用例，分四类。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E2E 8 项覆盖主链路和收藏功能；API 6 项覆盖接口契约与失败状态；边界 6 项覆盖零库存、超量、重复提交等；持久化 2 项覆盖重启保留和新库重建。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实测结果目前是待补充占位，实验完成后逐项填写并保留证据。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证据包括请求响应摘要、订单编号、自动化测试输出、失败前后对比和重建日志，全部随仓库提交。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这一页总结遇到的问题与取舍。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五个高发问题分别是：模板安装失败、店面没有商品、加购物车 400、无法完成订单、刷新后购物车丢失，每一条都有对应的处理思路。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取舍上，实验不接入真实支付和邮件服务，用测试支付与手工配送，订单以本地数据库对象为准。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未解决风险主要是收藏夹仅支持登录用户，匿名收藏迁移和账号合并暂未覆盖，这些已在 README 中说明。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这一页展示开发计划与 Git 证据。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仓库以固定 DTC Starter 快照为基线，upstream 是上游，origin 是个人仓库，计划至少 5 个非合并提交和 1 个 PR。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五个提交依次是：固定基线、环境与种子数据、收藏夹功能、自动化测试、文档与决策记录，分别关联 Issue #1、#2 和 PR #1。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Commit SHA 等实测信息目前是占位，实验完成后补填并附上 PR 链接。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最后一页是后续改进方向。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第一，接入真实支付与邮件沙箱，把测试支付升级为真实结算闭环。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第二，增强收藏夹：匿名收藏加登录迁移、按时间或销量排序推荐、降价与补货通知。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第三，工程化：容器化、CI 流水线和安全基线扫描，进一步降低环境漂移风险。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最后回顾一下：本实验在固定基线上用扩展点完成了二次开发，跑通电商状态链闭环并验证一致性与幂等，完整报告和 README 已随仓库提交。谢谢各位，欢迎提问。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203200" cy="68580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498600"/>
            <a:ext cx="76200" cy="23622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820400" y="660400"/>
            <a:ext cx="812800" cy="812800"/>
          </a:xfrm>
          <a:prstGeom prst="rect">
            <a:avLst/>
          </a:prstGeom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508000" y="609600"/>
            <a:ext cx="812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《开源软件与新技术》实验2 · 课堂展示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08000" y="1727200"/>
            <a:ext cx="10922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开源在线商城系统二次开发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08000" y="3200400"/>
            <a:ext cx="1092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以 Medusa 2.20.1 与 DTC Starter 为基线，跑通商品浏览—购物车—订单闭环，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7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并扩展登录用户收藏夹，以 22 项用例验证一致性与幂等。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4978400"/>
            <a:ext cx="11176000" cy="25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508000" y="5334000"/>
            <a:ext cx="11176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姓名：邱鑫宇　学号：23110506003　班级：软件2301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 年 10 月 26 日　·　基线 Commit：19e8a6fbefea5a385e9502409908bfbebbecf526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真实电商订单是一条有状态的业务链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实验要解决的三个核心问题：业务状态链 · 基础设施复用 · 本地可复现验收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422400"/>
            <a:ext cx="11176000" cy="25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08000" y="1778000"/>
            <a:ext cx="152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184400" y="1701800"/>
            <a:ext cx="9144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7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订单是一条有状态的业务链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商品→变体→价格→库存→购物车→订单，跨多个接口流转，状态之间有严格约束；刷新、重试与并发都可能破坏一致性。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08000" y="2997200"/>
            <a:ext cx="152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184400" y="2921000"/>
            <a:ext cx="9144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7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交易基础设施成熟度高，不宜从零重写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支付、库存扣减、配送规则、多区域定价都是成熟领域；二次开发应复用框架抽象，用模块与工作流扩展点挂接自研逻辑。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508000" y="4216400"/>
            <a:ext cx="152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184400" y="4140200"/>
            <a:ext cx="9144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7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验收要求可复现的本地演示环境</a:t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固定上游 Commit 与依赖版本，测试支付 + 手工配送即可在本地跑通下单闭环，任何机器按 README 可冷启动复现。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8000" y="5384800"/>
            <a:ext cx="11176000" cy="25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08000" y="5689600"/>
            <a:ext cx="1117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目标：在固定基线之上用扩展点完成二次开发，而不是重写交易核心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开源项目与固定基线：DTC Starter + Medusa 2.20.1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DTC Starter 是 Medusa 官方现行推荐的店面模板（nextjs-starter-medusa 已被官方标注弃用，改用 dtc-starter）；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Medusa 为 MIT 许可的开源电商后端框架。实验锁定上游快照，避免依赖漂移。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2032000"/>
          <a:ext cx="11176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94000"/>
                <a:gridCol w="3302000"/>
                <a:gridCol w="5080000"/>
              </a:tblGrid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组件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 / 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基线 Commit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19e8a6fbefea…f526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DTC Starter 快照，锁定的上游版本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Medusa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2.20.1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后端核心框架（MIT 许可）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pnpm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10.11.1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按锁文件安装，版本一致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Node.js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 LTS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后端、店面运行环境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PostgreSQL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16.x（≥15）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商品、购物车、订单数据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Git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2.40+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分支与提交管理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 txBox="true"/>
          <p:nvPr/>
        </p:nvSpPr>
        <p:spPr>
          <a:xfrm rot="0" flipH="false" flipV="false">
            <a:off x="508000" y="5842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固定基线的意义：任何机器安装结果一致，实验结果可复核、可复现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08000" y="6502400"/>
            <a:ext cx="1041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来源：https://github.com/medusajs/dtc-starter · https://github.com/medusajs/medusa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原项目基线 vs 个人改动范围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改动全部落在应用层：自定义 Store API 路由、模块与店面页面；不修改依赖包源码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473200"/>
            <a:ext cx="5334000" cy="4191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62000" y="17018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原项目基线（未改动）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2286000"/>
            <a:ext cx="4826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apps/backend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Medusa 后端 + 管理端（:9000）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apps/storefront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Next.js 店面（:8000）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src/modules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框架模块目录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src/workflows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结算等工作流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锁文件固定依赖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node_modules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依赖包源码不改动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1473200"/>
            <a:ext cx="5334000" cy="41910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604000" y="17018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个人改动（实验范围）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604000" y="2286000"/>
            <a:ext cx="4826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src/api/store/wishlist/*</a:t>
            </a:r>
            <a:r>
              <a:rPr lang="en-US" b="fals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　收藏夹路由（新增）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src/modules/wishlist/*</a:t>
            </a:r>
            <a:r>
              <a:rPr lang="en-US" b="fals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　数据模型与模块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storefront 页面</a:t>
            </a:r>
            <a:r>
              <a:rPr lang="en-US" b="fals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　收藏按钮 + 收藏列表页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tests/*</a:t>
            </a:r>
            <a:r>
              <a:rPr lang="en-US" b="fals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　API 与边界自动化测试</a:t>
            </a:r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README.md</a:t>
            </a:r>
            <a:r>
              <a:rPr lang="en-US" b="fals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　冷启动与决策记录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08000" y="5918200"/>
            <a:ext cx="1117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原则：用 Medusa 的 API 路由、模块与工作流扩展点挂接个人逻辑，保留升级通道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系统架构：店面—后端—数据库三层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三条主链路：浏览搜索 · 购物车 · 结算下单；价格、库存、订单规则由后端决定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08000" y="5867400"/>
            <a:ext cx="1117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结算是多步骤工作流：刷新与重试不能产生重复订单（幂等）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08000" y="6502400"/>
            <a:ext cx="1041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架构依据：Medusa Store API 与 DTC Starter 默认目录 · 实验报告第 3 章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006600" y="1252220"/>
            <a:ext cx="685800" cy="441960"/>
          </a:xfrm>
          <a:prstGeom prst="roundRect">
            <a:avLst>
              <a:gd name="adj" fmla="val 48850"/>
            </a:avLst>
          </a:prstGeom>
          <a:solidFill>
            <a:srgbClr val="003087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110740" y="1383030"/>
            <a:ext cx="47625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顾客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013200" y="1252220"/>
            <a:ext cx="1752600" cy="441960"/>
          </a:xfrm>
          <a:prstGeom prst="roundRect">
            <a:avLst>
              <a:gd name="adj" fmla="val 48850"/>
            </a:avLst>
          </a:prstGeom>
          <a:solidFill>
            <a:srgbClr val="003087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259580" y="1383030"/>
            <a:ext cx="125984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Next.js 店面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867150" y="1717040"/>
            <a:ext cx="1623060" cy="12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apps/storefront · :8000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10300" y="1252220"/>
            <a:ext cx="2438400" cy="441960"/>
          </a:xfrm>
          <a:prstGeom prst="roundRect">
            <a:avLst>
              <a:gd name="adj" fmla="val 48850"/>
            </a:avLst>
          </a:prstGeom>
          <a:solidFill>
            <a:srgbClr val="003087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526530" y="1383030"/>
            <a:ext cx="180594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Medusa Store API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540500" y="1717040"/>
            <a:ext cx="1409700" cy="12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apps/backend · :9000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023350" y="1252220"/>
            <a:ext cx="1638300" cy="441960"/>
          </a:xfrm>
          <a:prstGeom prst="roundRect">
            <a:avLst>
              <a:gd name="adj" fmla="val 48850"/>
            </a:avLst>
          </a:prstGeom>
          <a:solidFill>
            <a:srgbClr val="003087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9207500" y="1383030"/>
            <a:ext cx="126873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620250" y="1717040"/>
            <a:ext cx="403860" cy="12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:5432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527810" y="1979930"/>
            <a:ext cx="164211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725930" y="2105660"/>
            <a:ext cx="124841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浏览 / 搜索商品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159250" y="1979930"/>
            <a:ext cx="14605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4269740" y="2105660"/>
            <a:ext cx="12382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查询商品与变体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99250" y="1979930"/>
            <a:ext cx="14605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6809740" y="2105660"/>
            <a:ext cx="12382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价格与可售库存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194800" y="1979930"/>
            <a:ext cx="12954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9306560" y="2105660"/>
            <a:ext cx="10731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读取商品数据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445260" y="3148330"/>
            <a:ext cx="180721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1643380" y="3274060"/>
            <a:ext cx="141351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加入 / 修改购物车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324350" y="3148330"/>
            <a:ext cx="11303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4434840" y="3274060"/>
            <a:ext cx="9080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更新购物车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781800" y="3148330"/>
            <a:ext cx="12954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6893560" y="3274060"/>
            <a:ext cx="10731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校验并持久化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112250" y="3148330"/>
            <a:ext cx="14605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9222740" y="3274060"/>
            <a:ext cx="12382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保存购物车数据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866900" y="4316730"/>
            <a:ext cx="9652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1978660" y="4442460"/>
            <a:ext cx="7429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提交结算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324350" y="4316730"/>
            <a:ext cx="11303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 txBox="true"/>
          <p:nvPr/>
        </p:nvSpPr>
        <p:spPr>
          <a:xfrm rot="0" flipH="false" flipV="false">
            <a:off x="4434840" y="4442460"/>
            <a:ext cx="9080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完成购物车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616700" y="4316730"/>
            <a:ext cx="16256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 txBox="true"/>
          <p:nvPr/>
        </p:nvSpPr>
        <p:spPr>
          <a:xfrm rot="0" flipH="false" flipV="false">
            <a:off x="6728460" y="4442460"/>
            <a:ext cx="14033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创建订单（幂等）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947150" y="4316730"/>
            <a:ext cx="1790700" cy="408940"/>
          </a:xfrm>
          <a:prstGeom prst="roundRect">
            <a:avLst>
              <a:gd name="adj" fmla="val 2484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0BA">
                <a:alpha val="100000"/>
              </a:srgbClr>
            </a:solidFill>
            <a:prstDash val="solid"/>
            <a:miter lim="4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 txBox="true"/>
          <p:nvPr/>
        </p:nvSpPr>
        <p:spPr>
          <a:xfrm rot="0" flipH="false" flipV="false">
            <a:off x="9057640" y="4442460"/>
            <a:ext cx="1568450" cy="165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 defTabSz="59696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保存订单，返回编号</a:t>
            </a:r>
            <a:endParaRPr lang="en-US" sz="1100"/>
          </a:p>
        </p:txBody>
      </p:sp>
      <p:cxnSp>
        <p:nvCxnSpPr>
          <p:cNvPr name="Connector 42" id="42"/>
          <p:cNvCxnSpPr/>
          <p:nvPr/>
        </p:nvCxnSpPr>
        <p:spPr>
          <a:xfrm rot="-44156" flipH="false" flipV="false">
            <a:off x="3170596" y="2178050"/>
            <a:ext cx="98869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43" id="43"/>
          <p:cNvSpPr/>
          <p:nvPr/>
        </p:nvSpPr>
        <p:spPr>
          <a:xfrm rot="0" flipH="false" flipV="false">
            <a:off x="4056380" y="2127250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70BA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4" id="44"/>
          <p:cNvCxnSpPr/>
          <p:nvPr/>
        </p:nvCxnSpPr>
        <p:spPr>
          <a:xfrm rot="-40442" flipH="false" flipV="false">
            <a:off x="5619787" y="2178050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45" id="45"/>
          <p:cNvSpPr/>
          <p:nvPr/>
        </p:nvSpPr>
        <p:spPr>
          <a:xfrm rot="0" flipH="false" flipV="false">
            <a:off x="6596380" y="2127250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70BA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6" id="46"/>
          <p:cNvCxnSpPr/>
          <p:nvPr/>
        </p:nvCxnSpPr>
        <p:spPr>
          <a:xfrm rot="-42178" flipH="false" flipV="false">
            <a:off x="8159789" y="2178050"/>
            <a:ext cx="10350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47" id="47"/>
          <p:cNvSpPr/>
          <p:nvPr/>
        </p:nvSpPr>
        <p:spPr>
          <a:xfrm rot="0" flipH="false" flipV="false">
            <a:off x="9091930" y="2127250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70BA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8" id="48"/>
          <p:cNvCxnSpPr/>
          <p:nvPr/>
        </p:nvCxnSpPr>
        <p:spPr>
          <a:xfrm rot="-40753" flipH="false" flipV="false">
            <a:off x="3253143" y="3346450"/>
            <a:ext cx="107124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49" id="49"/>
          <p:cNvSpPr/>
          <p:nvPr/>
        </p:nvSpPr>
        <p:spPr>
          <a:xfrm rot="0" flipH="false" flipV="false">
            <a:off x="4221480" y="3295650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70BA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0" id="50"/>
          <p:cNvCxnSpPr/>
          <p:nvPr/>
        </p:nvCxnSpPr>
        <p:spPr>
          <a:xfrm rot="-32896" flipH="false" flipV="false">
            <a:off x="5454680" y="3346450"/>
            <a:ext cx="13271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51" id="51"/>
          <p:cNvSpPr/>
          <p:nvPr/>
        </p:nvSpPr>
        <p:spPr>
          <a:xfrm rot="0" flipH="false" flipV="false">
            <a:off x="6678930" y="3295650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70BA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2" id="52"/>
          <p:cNvCxnSpPr/>
          <p:nvPr/>
        </p:nvCxnSpPr>
        <p:spPr>
          <a:xfrm rot="-42178" flipH="false" flipV="false">
            <a:off x="8077239" y="3346450"/>
            <a:ext cx="10350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53" id="53"/>
          <p:cNvSpPr/>
          <p:nvPr/>
        </p:nvSpPr>
        <p:spPr>
          <a:xfrm rot="0" flipH="false" flipV="false">
            <a:off x="9009380" y="3295650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70BA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4" id="54"/>
          <p:cNvCxnSpPr/>
          <p:nvPr/>
        </p:nvCxnSpPr>
        <p:spPr>
          <a:xfrm rot="-29256" flipH="false" flipV="false">
            <a:off x="2832127" y="4514850"/>
            <a:ext cx="14922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55" id="55"/>
          <p:cNvSpPr/>
          <p:nvPr/>
        </p:nvSpPr>
        <p:spPr>
          <a:xfrm rot="0" flipH="false" flipV="false">
            <a:off x="4221480" y="4464050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70BA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6" id="56"/>
          <p:cNvCxnSpPr/>
          <p:nvPr/>
        </p:nvCxnSpPr>
        <p:spPr>
          <a:xfrm rot="-37569" flipH="false" flipV="false">
            <a:off x="5454685" y="4514850"/>
            <a:ext cx="11620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57" id="57"/>
          <p:cNvSpPr/>
          <p:nvPr/>
        </p:nvSpPr>
        <p:spPr>
          <a:xfrm rot="0" flipH="false" flipV="false">
            <a:off x="6513830" y="4464050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70BA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8" id="58"/>
          <p:cNvCxnSpPr/>
          <p:nvPr/>
        </p:nvCxnSpPr>
        <p:spPr>
          <a:xfrm rot="-61934" flipH="false" flipV="false">
            <a:off x="8242357" y="4514850"/>
            <a:ext cx="7048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name="Freeform 59" id="59"/>
          <p:cNvSpPr/>
          <p:nvPr/>
        </p:nvSpPr>
        <p:spPr>
          <a:xfrm rot="0" flipH="false" flipV="false">
            <a:off x="8844280" y="4464050"/>
            <a:ext cx="114300" cy="114300"/>
          </a:xfrm>
          <a:custGeom>
            <a:avLst/>
            <a:gdLst/>
            <a:ahLst/>
            <a:cxnLst/>
            <a:rect r="r" b="b" t="t" l="l"/>
            <a:pathLst>
              <a:path h="114300" w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0070BA">
              <a:alpha val="100000"/>
            </a:srgbClr>
          </a:solidFill>
          <a:ln cmpd="sng" cap="flat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自主功能：登录用户收藏夹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设计理由 · 数据归属 · 接口契约 · 失败状态，全部经真实持久化验证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08000" y="1524000"/>
            <a:ext cx="508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为什么选择收藏夹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08000" y="2108200"/>
            <a:ext cx="5080000" cy="248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贴近真实需求：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收藏是电商高频场景，可作为购物意向留存。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改动面可控：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复用客户域与 Store API 前缀，不触碰交易核心。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规则可落地：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归属、幂等、权限、下架处理都有明确业务决策。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数据真实持久化：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不使用前端静态假数据，跨设备登录一致。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4724400"/>
            <a:ext cx="5080000" cy="127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08000" y="4953000"/>
            <a:ext cx="5080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数据归属：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一人一列表（wishlist），条目关联商品与变体；</a:t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商品下架保留条目，返回可售标记，不删除用户数据。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1524000"/>
            <a:ext cx="5334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接口契约与失败状态</a:t>
            </a:r>
            <a:endParaRPr lang="en-US" sz="1100"/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6350000" y="2108200"/>
          <a:ext cx="5334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66800"/>
                <a:gridCol w="3200400"/>
                <a:gridCol w="1066800"/>
              </a:tblGrid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路由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状态码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POST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/store/wishlist/items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 / 201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DELETE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/store/wishlist/items/{id}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GET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/store/wishlist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0" id="10"/>
          <p:cNvSpPr txBox="true"/>
          <p:nvPr/>
        </p:nvSpPr>
        <p:spPr>
          <a:xfrm rot="0" flipH="false" flipV="false">
            <a:off x="6350000" y="4191000"/>
            <a:ext cx="533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未登录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→ 401　</a:t>
            </a: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参数缺失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→ 400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商品不存在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→ 404　</a:t>
            </a: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重复收藏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→ 幂等返回既有记录</a:t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库存变化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→ 收藏不预留库存，结算时校验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主链路演示：浏览商品 → 创建订单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店面 :8000/dk/store · 后端 :9000 · 测试支付 pp_system_default + 手工配送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08000" y="16764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143000" y="1625600"/>
            <a:ext cx="2794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浏览与搜索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GET /store/products?q=</a:t>
            </a:r>
          </a:p>
        </p:txBody>
      </p:sp>
      <p:cxnSp>
        <p:nvCxnSpPr>
          <p:cNvPr name="Connector 6" id="6"/>
          <p:cNvCxnSpPr/>
          <p:nvPr/>
        </p:nvCxnSpPr>
        <p:spPr>
          <a:xfrm rot="-47743" flipH="false" flipV="false">
            <a:off x="4038644" y="1898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5080000" y="16764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715000" y="1625600"/>
            <a:ext cx="2794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商品详情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GET /store/products/{id}</a:t>
            </a:r>
          </a:p>
        </p:txBody>
      </p:sp>
      <p:cxnSp>
        <p:nvCxnSpPr>
          <p:cNvPr name="Connector 9" id="9"/>
          <p:cNvCxnSpPr/>
          <p:nvPr/>
        </p:nvCxnSpPr>
        <p:spPr>
          <a:xfrm rot="-47743" flipH="false" flipV="false">
            <a:off x="8610644" y="1898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9652000" y="16764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287000" y="1625600"/>
            <a:ext cx="1778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加入购物车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POST /store/carts</a:t>
            </a:r>
          </a:p>
        </p:txBody>
      </p:sp>
      <p:cxnSp>
        <p:nvCxnSpPr>
          <p:cNvPr name="Connector 12" id="12"/>
          <p:cNvCxnSpPr/>
          <p:nvPr/>
        </p:nvCxnSpPr>
        <p:spPr>
          <a:xfrm rot="5350892" flipH="false" flipV="false">
            <a:off x="10731500" y="31813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508000" y="37592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43000" y="3708400"/>
            <a:ext cx="2794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修改数量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POST /store/carts/{id}/</a:t>
            </a: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line-items</a:t>
            </a:r>
          </a:p>
        </p:txBody>
      </p:sp>
      <p:cxnSp>
        <p:nvCxnSpPr>
          <p:cNvPr name="Connector 15" id="15"/>
          <p:cNvCxnSpPr/>
          <p:nvPr/>
        </p:nvCxnSpPr>
        <p:spPr>
          <a:xfrm rot="-47743" flipH="false" flipV="false">
            <a:off x="4038644" y="39814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6" id="16"/>
          <p:cNvSpPr txBox="true"/>
          <p:nvPr/>
        </p:nvSpPr>
        <p:spPr>
          <a:xfrm rot="0" flipH="false" flipV="false">
            <a:off x="5080000" y="37592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5715000" y="3708400"/>
            <a:ext cx="2794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填写结算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配送地址 + 测试支付</a:t>
            </a:r>
          </a:p>
        </p:txBody>
      </p:sp>
      <p:cxnSp>
        <p:nvCxnSpPr>
          <p:cNvPr name="Connector 18" id="18"/>
          <p:cNvCxnSpPr/>
          <p:nvPr/>
        </p:nvCxnSpPr>
        <p:spPr>
          <a:xfrm rot="-47743" flipH="false" flipV="false">
            <a:off x="8610644" y="39814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0B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9652000" y="37592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287000" y="3683000"/>
            <a:ext cx="177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完成下单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POST /store/carts/</a:t>
            </a: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{id}/complete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" y="5130800"/>
            <a:ext cx="11176000" cy="25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508000" y="5384800"/>
            <a:ext cx="11176000" cy="86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演示证据：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【截图 / 录屏：商品列表、详情、购物车、结算、订单，待实验补充】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用浏览器 Network 面板逐条记录方法、URL、状态码与关键响应；订单创建后可在管理端 :9000/app 查询验证。</a:t>
            </a:r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核心代码与 1 项代表性测试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收藏夹 POST 路由骨架（注释保留业务规则）；测试聚焦幂等与失败状态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08000" y="1473200"/>
            <a:ext cx="635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Roboto Mono"/>
                <a:ea typeface="Roboto Mono"/>
                <a:cs typeface="Roboto Mono"/>
                <a:sym typeface="Roboto Mono"/>
              </a:rPr>
              <a:t>src/api/store/wishlist/items/route.ts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879600"/>
            <a:ext cx="6350000" cy="3048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11200" y="2032000"/>
            <a:ext cx="5969000" cy="274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import type { MedusaRequest, MedusaResponse }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from '@medusajs/framework/http'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export async function POST(req, res) {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// 1. 校验登录用户，未登录返回 401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// 2. 校验 product_id / variant_id 属于当前目录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// 3. 幂等：重复收藏返回既有收藏记录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// 4. 调用自定义模块持久化，返回收藏对象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08000" y="5130800"/>
            <a:ext cx="63500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配置要点：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区域 dk · 支付 pp_system_default（测试）· 配送 manual_manual（手工）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不配置真实支付密钥；Store 默认区域为 dk，不可直接改成 cn。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366000" y="1473200"/>
            <a:ext cx="431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1 项代表性测试：收藏幂等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366000" y="19304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同一客户对同一变体连续两次 POST 收藏。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预期：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第二次返回既有收藏记录，数据库条目数不变。</a:t>
            </a:r>
          </a:p>
          <a:p>
            <a:pPr algn="l" marL="0" indent="0">
              <a:lnSpc>
                <a:spcPct val="129166"/>
              </a:lnSpc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API 测试 A04 + 边界测试 B06（重复提交订单）配套。</a:t>
            </a:r>
          </a:p>
          <a:p>
            <a:pPr algn="l" marL="0" indent="0">
              <a:lnSpc>
                <a:spcPct val="129166"/>
              </a:lnSpc>
            </a:pPr>
            <a:r>
              <a:rPr lang="en-US" b="true" i="false" strike="noStrike" u="none" sz="14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为何关键：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双击、重试与前端防抖失效时，幂等是最后一道防线。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366000" y="4470400"/>
            <a:ext cx="4318000" cy="25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7366000" y="4724400"/>
            <a:ext cx="431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工程约束：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价格、库存与订单规则全部由后端决定并写入事务，前端只负责交互与错误展示，不在前端伪造“下单成功”。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测试结果：22 项用例覆盖四类测试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E2E 8 · API 6 · 边界 6 · 持久化 2；实测结果待实验完成后填写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08000" y="1524000"/>
            <a:ext cx="2286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22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08000" y="23876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设计用例总数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302000" y="1524000"/>
          <a:ext cx="8382000" cy="2743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1143000"/>
                <a:gridCol w="5715000"/>
              </a:tblGrid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覆盖要点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E2E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浏览、搜索、详情、购物车、结算下单、管理端查询、收藏、跨设备登录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商品、购物车、完成订单、收藏接口、未登录 401、异常参数 4xx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边界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零库存、数量 0/负数、超可售量、删除不存在行项目、无效地址、重复提交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持久化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重启后数据保留、全新数据库种子流程可复现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508000" y="4572000"/>
            <a:ext cx="11176000" cy="25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08000" y="48514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测试证据（随仓库提交）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508000" y="5334000"/>
            <a:ext cx="11176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主链路请求 / 响应摘要与订单编号（Network 面板记录）　· 至少 1 个自动 API 测试文件及运行输出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重复提交或库存边界的失败前后对比　· 空数据库重建演示数据的日志　· 截图 / 录屏【待实验补充】</a:t>
            </a:r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遇到的问题、取舍与未解决风险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五个高发问题及处理思路；取舍已在 README 中说明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08000" y="1498600"/>
            <a:ext cx="1117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1　模板安装或迁移失败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核对固定 Commit、Node、pnpm 与数据库连通性，保留完整错误信息，按锁文件安装。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08000" y="2184400"/>
            <a:ext cx="1117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2　后端健康但店面没有商品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在管理端检查销售区域、发布状态、渠道、价格与库存位置配置，用 Network 面板确认接口返回。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08000" y="2870200"/>
            <a:ext cx="1117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3　加入购物车返回 400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核对请求字段使用变体 ID 而非商品 ID，检查变体可售状态与购物车区域、价格、库存匹配。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08000" y="3556000"/>
            <a:ext cx="1117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4　无法完成订单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按固定版本文档逐步检查配送方式、地址字段、支付会话与完成步骤，使用本地测试支付，不伪造成功响应。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08000" y="4241800"/>
            <a:ext cx="1117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问题 5　刷新后购物车丢失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购物车标识保存在受控客户端存储，校验 CORS 与 Cookie 配置，清理策略写入 README。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5130800"/>
            <a:ext cx="11176000" cy="25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08000" y="5334000"/>
            <a:ext cx="11176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取舍：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不接入真实支付与邮件服务（测试支付 + 手工配送，订单以本地数据库对象为准）。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未解决风险：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收藏夹仅登录用户（匿名收藏与游客迁移未实现）；跨设备同步依赖客户账号体系，未覆盖账号合并场景。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开发计划与 Git / PR 证据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以固定快照为基线：upstream 为上游、origin 为个人仓库；至少 5 个非合并提交 + 1 个 PR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498600"/>
          <a:ext cx="11176000" cy="3327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2286000"/>
                <a:gridCol w="4826000"/>
                <a:gridCol w="2921000"/>
              </a:tblGrid>
              <a:tr h="4953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Commit（占位）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提交说明与覆盖内容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关联 Issue / PR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【待补充】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chore(base)：固定 DTC Starter 基线，锁定提交号与锁文件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Issue #1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【待补充】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feat(core)：配置环境与种子数据（数据库、商品、区域）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Issue #1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【待补充】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feat(store)：实现收藏夹接口与模块（自主功能）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Issue #2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【待补充】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test(store)：补充 API 与边界自动化测试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 #1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61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【待补充】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docs：编写 README 与决策记录（含许可证说明）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 #1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 txBox="true"/>
          <p:nvPr/>
        </p:nvSpPr>
        <p:spPr>
          <a:xfrm rot="0" flipH="false" flipV="false">
            <a:off x="508000" y="50546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Git 规范检查清单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08000" y="5511800"/>
            <a:ext cx="11176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提交信息遵循 conventional commits　· Issue 关联需求与缺陷　· PR 通过 Code Review 合并　· README 支持冷启动复现　· 实测 Commit SHA【待补充】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508000" y="355600"/>
            <a:ext cx="1117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后续改进方向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508000" y="965200"/>
            <a:ext cx="1117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在本次实验结果之上，三个可落地的扩展方向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08000" y="1651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397000" y="1600200"/>
            <a:ext cx="1016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接入真实支付与邮件服务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在测试支付 pp_system_default 之上切换到沙箱支付 provider，补齐邮件通知，验证真实结算与履约闭环。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08000" y="2895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397000" y="2844800"/>
            <a:ext cx="1016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收藏夹功能增强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匿名收藏 + 登录迁移、按收藏时间/销量排序推荐、商品降价与库存恢复时通知用户。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08000" y="41402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397000" y="4089400"/>
            <a:ext cx="10160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工程化与自动化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容器化一键启动、CI 流水线跑 API 测试、依赖与安全基线扫描，降低环境漂移风险。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5232400"/>
            <a:ext cx="11176000" cy="25400"/>
          </a:xfrm>
          <a:prstGeom prst="roundRect">
            <a:avLst>
              <a:gd name="adj" fmla="val 0"/>
            </a:avLst>
          </a:prstGeom>
          <a:solidFill>
            <a:srgbClr val="D4E5F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08000" y="54864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总结：在固定基线之上用扩展点完成二次开发，跑通电商状态链闭环，并验证了一致性与幂等。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实验仓库：https://github.com/L1nbd/medusa-store-exp02　·　完整报告与 README 随仓库提交</a:t>
            </a:r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1176000" y="6502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12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